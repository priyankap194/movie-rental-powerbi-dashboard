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3" r:id="rId9"/>
    <p:sldId id="262" r:id="rId10"/>
    <p:sldId id="271" r:id="rId11"/>
    <p:sldId id="265" r:id="rId12"/>
    <p:sldId id="266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3BEEF4-1296-429B-9A67-2EA0A46C4B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96FBDB5-0511-415B-9859-0CBF0947CF74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0960" tIns="60960" rIns="60960" bIns="60960" numCol="1" spcCol="1270" anchor="ctr" anchorCtr="0"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These KPIs provide a quick overview of business performance and help track overall growth and efficiency.</a:t>
          </a:r>
          <a:endParaRPr lang="en-IN" sz="1600" b="1" kern="1200" dirty="0">
            <a:solidFill>
              <a:prstClr val="black"/>
            </a:solidFill>
            <a:latin typeface="Calibri"/>
            <a:ea typeface="+mn-ea"/>
            <a:cs typeface="+mn-cs"/>
          </a:endParaRPr>
        </a:p>
      </dgm:t>
    </dgm:pt>
    <dgm:pt modelId="{D4DFDF86-0D26-4145-8838-CC4E321EE3A3}" type="parTrans" cxnId="{0A31A056-AEE0-47D3-990F-A630BD72303E}">
      <dgm:prSet/>
      <dgm:spPr/>
      <dgm:t>
        <a:bodyPr/>
        <a:lstStyle/>
        <a:p>
          <a:endParaRPr lang="en-IN"/>
        </a:p>
      </dgm:t>
    </dgm:pt>
    <dgm:pt modelId="{9DD3FE1A-6D95-4E8B-AAA5-97A225A156B8}" type="sibTrans" cxnId="{0A31A056-AEE0-47D3-990F-A630BD72303E}">
      <dgm:prSet/>
      <dgm:spPr/>
      <dgm:t>
        <a:bodyPr/>
        <a:lstStyle/>
        <a:p>
          <a:endParaRPr lang="en-IN"/>
        </a:p>
      </dgm:t>
    </dgm:pt>
    <dgm:pt modelId="{F46CA3FD-9080-49E6-98A1-5493C7DB4E1E}" type="pres">
      <dgm:prSet presAssocID="{DA3BEEF4-1296-429B-9A67-2EA0A46C4B9E}" presName="linear" presStyleCnt="0">
        <dgm:presLayoutVars>
          <dgm:animLvl val="lvl"/>
          <dgm:resizeHandles val="exact"/>
        </dgm:presLayoutVars>
      </dgm:prSet>
      <dgm:spPr/>
    </dgm:pt>
    <dgm:pt modelId="{77AF3A71-D9FB-4913-B652-B51E812CB01F}" type="pres">
      <dgm:prSet presAssocID="{596FBDB5-0511-415B-9859-0CBF0947CF74}" presName="parentText" presStyleLbl="node1" presStyleIdx="0" presStyleCnt="1">
        <dgm:presLayoutVars>
          <dgm:chMax val="0"/>
          <dgm:bulletEnabled val="1"/>
        </dgm:presLayoutVars>
      </dgm:prSet>
      <dgm:spPr>
        <a:xfrm>
          <a:off x="0" y="83754"/>
          <a:ext cx="6142829" cy="755820"/>
        </a:xfrm>
        <a:prstGeom prst="roundRect">
          <a:avLst/>
        </a:prstGeom>
      </dgm:spPr>
    </dgm:pt>
  </dgm:ptLst>
  <dgm:cxnLst>
    <dgm:cxn modelId="{4EA8AB4F-DFC8-490E-B5C8-7B31EE752F8E}" type="presOf" srcId="{596FBDB5-0511-415B-9859-0CBF0947CF74}" destId="{77AF3A71-D9FB-4913-B652-B51E812CB01F}" srcOrd="0" destOrd="0" presId="urn:microsoft.com/office/officeart/2005/8/layout/vList2"/>
    <dgm:cxn modelId="{0A31A056-AEE0-47D3-990F-A630BD72303E}" srcId="{DA3BEEF4-1296-429B-9A67-2EA0A46C4B9E}" destId="{596FBDB5-0511-415B-9859-0CBF0947CF74}" srcOrd="0" destOrd="0" parTransId="{D4DFDF86-0D26-4145-8838-CC4E321EE3A3}" sibTransId="{9DD3FE1A-6D95-4E8B-AAA5-97A225A156B8}"/>
    <dgm:cxn modelId="{2A890658-BD87-4270-A361-0B6537D0EE90}" type="presOf" srcId="{DA3BEEF4-1296-429B-9A67-2EA0A46C4B9E}" destId="{F46CA3FD-9080-49E6-98A1-5493C7DB4E1E}" srcOrd="0" destOrd="0" presId="urn:microsoft.com/office/officeart/2005/8/layout/vList2"/>
    <dgm:cxn modelId="{C5D57069-3BBB-4504-B01D-6337AD86A3AB}" type="presParOf" srcId="{F46CA3FD-9080-49E6-98A1-5493C7DB4E1E}" destId="{77AF3A71-D9FB-4913-B652-B51E812CB01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194C7B-D03A-410C-841F-0E6FB6A6CC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EC74EE-951A-4594-8F7F-88433B1DC562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Revenue</a:t>
          </a:r>
          <a:r>
            <a:rPr lang="en-US" sz="1600" dirty="0"/>
            <a:t> </a:t>
          </a:r>
          <a:r>
            <a:rPr lang="en-US" sz="1600" b="1" dirty="0"/>
            <a:t>varies</a:t>
          </a:r>
          <a:r>
            <a:rPr lang="en-US" sz="1600" dirty="0"/>
            <a:t> across months indicating demand patterns.</a:t>
          </a:r>
          <a:endParaRPr lang="en-IN" sz="1600" dirty="0"/>
        </a:p>
      </dgm:t>
    </dgm:pt>
    <dgm:pt modelId="{A03EA3EB-A2E1-4570-9F5A-437F40CA5974}" type="parTrans" cxnId="{2BDC4A04-ADA1-4209-89CA-60757D989AF2}">
      <dgm:prSet/>
      <dgm:spPr/>
      <dgm:t>
        <a:bodyPr/>
        <a:lstStyle/>
        <a:p>
          <a:endParaRPr lang="en-IN"/>
        </a:p>
      </dgm:t>
    </dgm:pt>
    <dgm:pt modelId="{FCE8D1AE-5918-4DD2-9726-0B1B26A560F0}" type="sibTrans" cxnId="{2BDC4A04-ADA1-4209-89CA-60757D989AF2}">
      <dgm:prSet/>
      <dgm:spPr/>
      <dgm:t>
        <a:bodyPr/>
        <a:lstStyle/>
        <a:p>
          <a:endParaRPr lang="en-IN"/>
        </a:p>
      </dgm:t>
    </dgm:pt>
    <dgm:pt modelId="{EC60B070-C245-40AB-994C-42E2AA2B0131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A few films generate higher revenue than others.</a:t>
          </a:r>
          <a:endParaRPr lang="en-IN" sz="1600" b="1" dirty="0"/>
        </a:p>
      </dgm:t>
    </dgm:pt>
    <dgm:pt modelId="{5BBFD9C5-A530-491D-AD3D-6F868D06BF76}" type="parTrans" cxnId="{84D968CC-EF58-41A8-8F8A-854BC40AD67B}">
      <dgm:prSet/>
      <dgm:spPr/>
      <dgm:t>
        <a:bodyPr/>
        <a:lstStyle/>
        <a:p>
          <a:endParaRPr lang="en-IN"/>
        </a:p>
      </dgm:t>
    </dgm:pt>
    <dgm:pt modelId="{836BD7F3-30CC-430D-B6C1-FAEDD2411607}" type="sibTrans" cxnId="{84D968CC-EF58-41A8-8F8A-854BC40AD67B}">
      <dgm:prSet/>
      <dgm:spPr/>
      <dgm:t>
        <a:bodyPr/>
        <a:lstStyle/>
        <a:p>
          <a:endParaRPr lang="en-IN"/>
        </a:p>
      </dgm:t>
    </dgm:pt>
    <dgm:pt modelId="{65D8E7F4-951D-45D9-8321-BB222F38E730}" type="pres">
      <dgm:prSet presAssocID="{5B194C7B-D03A-410C-841F-0E6FB6A6CC01}" presName="linear" presStyleCnt="0">
        <dgm:presLayoutVars>
          <dgm:animLvl val="lvl"/>
          <dgm:resizeHandles val="exact"/>
        </dgm:presLayoutVars>
      </dgm:prSet>
      <dgm:spPr/>
    </dgm:pt>
    <dgm:pt modelId="{DAB18BEA-5D01-4FD9-9D0C-62E5011F2B37}" type="pres">
      <dgm:prSet presAssocID="{E8EC74EE-951A-4594-8F7F-88433B1DC56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DCFB96-D0BF-43A3-8663-A34B69F09E33}" type="pres">
      <dgm:prSet presAssocID="{FCE8D1AE-5918-4DD2-9726-0B1B26A560F0}" presName="spacer" presStyleCnt="0"/>
      <dgm:spPr/>
    </dgm:pt>
    <dgm:pt modelId="{9BE90E48-677F-466F-A0C1-82620612BC07}" type="pres">
      <dgm:prSet presAssocID="{EC60B070-C245-40AB-994C-42E2AA2B013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BDC4A04-ADA1-4209-89CA-60757D989AF2}" srcId="{5B194C7B-D03A-410C-841F-0E6FB6A6CC01}" destId="{E8EC74EE-951A-4594-8F7F-88433B1DC562}" srcOrd="0" destOrd="0" parTransId="{A03EA3EB-A2E1-4570-9F5A-437F40CA5974}" sibTransId="{FCE8D1AE-5918-4DD2-9726-0B1B26A560F0}"/>
    <dgm:cxn modelId="{D8D9DB26-75FA-45B5-9660-9373B5E1ADBC}" type="presOf" srcId="{5B194C7B-D03A-410C-841F-0E6FB6A6CC01}" destId="{65D8E7F4-951D-45D9-8321-BB222F38E730}" srcOrd="0" destOrd="0" presId="urn:microsoft.com/office/officeart/2005/8/layout/vList2"/>
    <dgm:cxn modelId="{9BB7063B-29BC-4499-BC8F-1E172D1B1137}" type="presOf" srcId="{E8EC74EE-951A-4594-8F7F-88433B1DC562}" destId="{DAB18BEA-5D01-4FD9-9D0C-62E5011F2B37}" srcOrd="0" destOrd="0" presId="urn:microsoft.com/office/officeart/2005/8/layout/vList2"/>
    <dgm:cxn modelId="{93FCADB3-3CEC-491F-97F4-9FF554CCC0C4}" type="presOf" srcId="{EC60B070-C245-40AB-994C-42E2AA2B0131}" destId="{9BE90E48-677F-466F-A0C1-82620612BC07}" srcOrd="0" destOrd="0" presId="urn:microsoft.com/office/officeart/2005/8/layout/vList2"/>
    <dgm:cxn modelId="{84D968CC-EF58-41A8-8F8A-854BC40AD67B}" srcId="{5B194C7B-D03A-410C-841F-0E6FB6A6CC01}" destId="{EC60B070-C245-40AB-994C-42E2AA2B0131}" srcOrd="1" destOrd="0" parTransId="{5BBFD9C5-A530-491D-AD3D-6F868D06BF76}" sibTransId="{836BD7F3-30CC-430D-B6C1-FAEDD2411607}"/>
    <dgm:cxn modelId="{208CBD2F-C05D-43D2-831E-DA860C1FC891}" type="presParOf" srcId="{65D8E7F4-951D-45D9-8321-BB222F38E730}" destId="{DAB18BEA-5D01-4FD9-9D0C-62E5011F2B37}" srcOrd="0" destOrd="0" presId="urn:microsoft.com/office/officeart/2005/8/layout/vList2"/>
    <dgm:cxn modelId="{73A68B75-9593-453B-B947-40695E35B17D}" type="presParOf" srcId="{65D8E7F4-951D-45D9-8321-BB222F38E730}" destId="{7EDCFB96-D0BF-43A3-8663-A34B69F09E33}" srcOrd="1" destOrd="0" presId="urn:microsoft.com/office/officeart/2005/8/layout/vList2"/>
    <dgm:cxn modelId="{136AAE7A-412D-4DD5-A7E9-B064C08FFFB3}" type="presParOf" srcId="{65D8E7F4-951D-45D9-8321-BB222F38E730}" destId="{9BE90E48-677F-466F-A0C1-82620612BC0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5858E7-BB24-406C-881D-1B9B279F1C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FBDC105-9FD1-4698-B013-6CD7DC035EB4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Customers are segmented based on rental frequency and revenue</a:t>
          </a:r>
          <a:endParaRPr lang="en-IN" sz="1600" b="1" dirty="0"/>
        </a:p>
      </dgm:t>
    </dgm:pt>
    <dgm:pt modelId="{AE164949-71F1-4FBF-A449-A72A934E11BE}" type="sibTrans" cxnId="{6B84E668-1CD2-4F63-8CBF-C34B87C053FD}">
      <dgm:prSet/>
      <dgm:spPr/>
      <dgm:t>
        <a:bodyPr/>
        <a:lstStyle/>
        <a:p>
          <a:endParaRPr lang="en-IN"/>
        </a:p>
      </dgm:t>
    </dgm:pt>
    <dgm:pt modelId="{5D8DDE0F-333B-45B4-9449-BCA57D7EED35}" type="parTrans" cxnId="{6B84E668-1CD2-4F63-8CBF-C34B87C053FD}">
      <dgm:prSet/>
      <dgm:spPr/>
      <dgm:t>
        <a:bodyPr/>
        <a:lstStyle/>
        <a:p>
          <a:endParaRPr lang="en-IN"/>
        </a:p>
      </dgm:t>
    </dgm:pt>
    <dgm:pt modelId="{1DBF4118-7699-496F-A99B-9385ED253EFD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A small group of customers generates higher revenue and rentals, indicating strong customer segmentation.</a:t>
          </a:r>
          <a:endParaRPr lang="en-IN" sz="1600" b="1" dirty="0"/>
        </a:p>
      </dgm:t>
    </dgm:pt>
    <dgm:pt modelId="{9A84E56B-DF9D-411F-85C7-D76FA75D225D}" type="sibTrans" cxnId="{650A02AD-BA34-43E9-A7C3-62E113FEC03E}">
      <dgm:prSet/>
      <dgm:spPr/>
      <dgm:t>
        <a:bodyPr/>
        <a:lstStyle/>
        <a:p>
          <a:endParaRPr lang="en-IN"/>
        </a:p>
      </dgm:t>
    </dgm:pt>
    <dgm:pt modelId="{A593570E-DD7F-495F-BC75-81A20891A26E}" type="parTrans" cxnId="{650A02AD-BA34-43E9-A7C3-62E113FEC03E}">
      <dgm:prSet/>
      <dgm:spPr/>
      <dgm:t>
        <a:bodyPr/>
        <a:lstStyle/>
        <a:p>
          <a:endParaRPr lang="en-IN"/>
        </a:p>
      </dgm:t>
    </dgm:pt>
    <dgm:pt modelId="{444646CD-E85D-4270-A36A-6CC9AC751F78}" type="pres">
      <dgm:prSet presAssocID="{AA5858E7-BB24-406C-881D-1B9B279F1C7D}" presName="linear" presStyleCnt="0">
        <dgm:presLayoutVars>
          <dgm:animLvl val="lvl"/>
          <dgm:resizeHandles val="exact"/>
        </dgm:presLayoutVars>
      </dgm:prSet>
      <dgm:spPr/>
    </dgm:pt>
    <dgm:pt modelId="{F4490B03-68F2-4B4D-9FCE-6CE5C4A92A11}" type="pres">
      <dgm:prSet presAssocID="{EFBDC105-9FD1-4698-B013-6CD7DC035E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EA8080-3318-4E2C-8719-D8056A336D9C}" type="pres">
      <dgm:prSet presAssocID="{AE164949-71F1-4FBF-A449-A72A934E11BE}" presName="spacer" presStyleCnt="0"/>
      <dgm:spPr/>
    </dgm:pt>
    <dgm:pt modelId="{F855976F-6CC0-42B1-B676-D6DD9293001B}" type="pres">
      <dgm:prSet presAssocID="{1DBF4118-7699-496F-A99B-9385ED253EFD}" presName="parentText" presStyleLbl="node1" presStyleIdx="1" presStyleCnt="2" custScaleY="100010">
        <dgm:presLayoutVars>
          <dgm:chMax val="0"/>
          <dgm:bulletEnabled val="1"/>
        </dgm:presLayoutVars>
      </dgm:prSet>
      <dgm:spPr/>
    </dgm:pt>
  </dgm:ptLst>
  <dgm:cxnLst>
    <dgm:cxn modelId="{0ACE1527-7BF9-4553-9B69-918E3D48F021}" type="presOf" srcId="{1DBF4118-7699-496F-A99B-9385ED253EFD}" destId="{F855976F-6CC0-42B1-B676-D6DD9293001B}" srcOrd="0" destOrd="0" presId="urn:microsoft.com/office/officeart/2005/8/layout/vList2"/>
    <dgm:cxn modelId="{58CF892E-4C3E-4604-AE78-40426749AEFD}" type="presOf" srcId="{AA5858E7-BB24-406C-881D-1B9B279F1C7D}" destId="{444646CD-E85D-4270-A36A-6CC9AC751F78}" srcOrd="0" destOrd="0" presId="urn:microsoft.com/office/officeart/2005/8/layout/vList2"/>
    <dgm:cxn modelId="{6B84E668-1CD2-4F63-8CBF-C34B87C053FD}" srcId="{AA5858E7-BB24-406C-881D-1B9B279F1C7D}" destId="{EFBDC105-9FD1-4698-B013-6CD7DC035EB4}" srcOrd="0" destOrd="0" parTransId="{5D8DDE0F-333B-45B4-9449-BCA57D7EED35}" sibTransId="{AE164949-71F1-4FBF-A449-A72A934E11BE}"/>
    <dgm:cxn modelId="{650A02AD-BA34-43E9-A7C3-62E113FEC03E}" srcId="{AA5858E7-BB24-406C-881D-1B9B279F1C7D}" destId="{1DBF4118-7699-496F-A99B-9385ED253EFD}" srcOrd="1" destOrd="0" parTransId="{A593570E-DD7F-495F-BC75-81A20891A26E}" sibTransId="{9A84E56B-DF9D-411F-85C7-D76FA75D225D}"/>
    <dgm:cxn modelId="{47F9FCF1-593B-4D5D-943D-E91868F91D92}" type="presOf" srcId="{EFBDC105-9FD1-4698-B013-6CD7DC035EB4}" destId="{F4490B03-68F2-4B4D-9FCE-6CE5C4A92A11}" srcOrd="0" destOrd="0" presId="urn:microsoft.com/office/officeart/2005/8/layout/vList2"/>
    <dgm:cxn modelId="{0C6F67C2-209C-485C-B006-10AF2D96F14F}" type="presParOf" srcId="{444646CD-E85D-4270-A36A-6CC9AC751F78}" destId="{F4490B03-68F2-4B4D-9FCE-6CE5C4A92A11}" srcOrd="0" destOrd="0" presId="urn:microsoft.com/office/officeart/2005/8/layout/vList2"/>
    <dgm:cxn modelId="{79B153C4-04E8-44E7-8EA4-4549BEC69D26}" type="presParOf" srcId="{444646CD-E85D-4270-A36A-6CC9AC751F78}" destId="{EEEA8080-3318-4E2C-8719-D8056A336D9C}" srcOrd="1" destOrd="0" presId="urn:microsoft.com/office/officeart/2005/8/layout/vList2"/>
    <dgm:cxn modelId="{34A4EAA5-9A14-45FD-9351-97E1C92113F3}" type="presParOf" srcId="{444646CD-E85D-4270-A36A-6CC9AC751F78}" destId="{F855976F-6CC0-42B1-B676-D6DD9293001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11E558-4FA1-45FB-BBCD-7B0FC0D046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9FFDAB-1B4A-4BA9-9879-5E772460A776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b="1" dirty="0"/>
            <a:t>Films are evenly distributed across categories.</a:t>
          </a:r>
          <a:endParaRPr lang="en-IN" sz="1600" b="1" dirty="0"/>
        </a:p>
      </dgm:t>
    </dgm:pt>
    <dgm:pt modelId="{A19BEE2E-92B8-4573-AA1E-20442047F7FC}" type="parTrans" cxnId="{4E6693C2-6E0B-4C13-93F3-6CEBB927B552}">
      <dgm:prSet/>
      <dgm:spPr/>
      <dgm:t>
        <a:bodyPr/>
        <a:lstStyle/>
        <a:p>
          <a:endParaRPr lang="en-IN"/>
        </a:p>
      </dgm:t>
    </dgm:pt>
    <dgm:pt modelId="{78BEDC86-2B50-4558-B6B5-ED89BAD95AA5}" type="sibTrans" cxnId="{4E6693C2-6E0B-4C13-93F3-6CEBB927B552}">
      <dgm:prSet/>
      <dgm:spPr/>
      <dgm:t>
        <a:bodyPr/>
        <a:lstStyle/>
        <a:p>
          <a:endParaRPr lang="en-IN"/>
        </a:p>
      </dgm:t>
    </dgm:pt>
    <dgm:pt modelId="{F3A8856A-28A6-4972-BBFE-AC3F58A67ACC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b="1" dirty="0"/>
            <a:t>Most rentals fall within a standard duration range.</a:t>
          </a:r>
          <a:r>
            <a:rPr lang="en-US" sz="1600" b="1" i="0" baseline="0" dirty="0"/>
            <a:t>.</a:t>
          </a:r>
          <a:endParaRPr lang="en-IN" sz="1600" b="1" dirty="0"/>
        </a:p>
      </dgm:t>
    </dgm:pt>
    <dgm:pt modelId="{43622E4D-A915-4005-87EE-4D2A6EECACBB}" type="parTrans" cxnId="{C412826F-E0A1-453A-A647-8B56BF085CE2}">
      <dgm:prSet/>
      <dgm:spPr/>
      <dgm:t>
        <a:bodyPr/>
        <a:lstStyle/>
        <a:p>
          <a:endParaRPr lang="en-IN"/>
        </a:p>
      </dgm:t>
    </dgm:pt>
    <dgm:pt modelId="{9217F75B-7177-45C4-A4D9-2CCD91455C4F}" type="sibTrans" cxnId="{C412826F-E0A1-453A-A647-8B56BF085CE2}">
      <dgm:prSet/>
      <dgm:spPr/>
      <dgm:t>
        <a:bodyPr/>
        <a:lstStyle/>
        <a:p>
          <a:endParaRPr lang="en-IN"/>
        </a:p>
      </dgm:t>
    </dgm:pt>
    <dgm:pt modelId="{06B23927-BBE3-460E-95F7-38D8F6B54C7E}" type="pres">
      <dgm:prSet presAssocID="{0C11E558-4FA1-45FB-BBCD-7B0FC0D046F3}" presName="linear" presStyleCnt="0">
        <dgm:presLayoutVars>
          <dgm:animLvl val="lvl"/>
          <dgm:resizeHandles val="exact"/>
        </dgm:presLayoutVars>
      </dgm:prSet>
      <dgm:spPr/>
    </dgm:pt>
    <dgm:pt modelId="{1CFFE029-E403-4FD8-9A28-CA030CCAD0F0}" type="pres">
      <dgm:prSet presAssocID="{629FFDAB-1B4A-4BA9-9879-5E772460A77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949D4A-3F3B-4658-B278-B588DE6860D4}" type="pres">
      <dgm:prSet presAssocID="{78BEDC86-2B50-4558-B6B5-ED89BAD95AA5}" presName="spacer" presStyleCnt="0"/>
      <dgm:spPr/>
    </dgm:pt>
    <dgm:pt modelId="{3250D139-813F-4EFE-8B1A-314CDA5D075E}" type="pres">
      <dgm:prSet presAssocID="{F3A8856A-28A6-4972-BBFE-AC3F58A67ACC}" presName="parentText" presStyleLbl="node1" presStyleIdx="1" presStyleCnt="2" custLinFactY="75914" custLinFactNeighborX="-98" custLinFactNeighborY="100000">
        <dgm:presLayoutVars>
          <dgm:chMax val="0"/>
          <dgm:bulletEnabled val="1"/>
        </dgm:presLayoutVars>
      </dgm:prSet>
      <dgm:spPr/>
    </dgm:pt>
  </dgm:ptLst>
  <dgm:cxnLst>
    <dgm:cxn modelId="{586CCF1E-7557-4625-B136-CF59BA3627CB}" type="presOf" srcId="{F3A8856A-28A6-4972-BBFE-AC3F58A67ACC}" destId="{3250D139-813F-4EFE-8B1A-314CDA5D075E}" srcOrd="0" destOrd="0" presId="urn:microsoft.com/office/officeart/2005/8/layout/vList2"/>
    <dgm:cxn modelId="{B431406B-1037-4E72-8299-A97567C1462F}" type="presOf" srcId="{0C11E558-4FA1-45FB-BBCD-7B0FC0D046F3}" destId="{06B23927-BBE3-460E-95F7-38D8F6B54C7E}" srcOrd="0" destOrd="0" presId="urn:microsoft.com/office/officeart/2005/8/layout/vList2"/>
    <dgm:cxn modelId="{C412826F-E0A1-453A-A647-8B56BF085CE2}" srcId="{0C11E558-4FA1-45FB-BBCD-7B0FC0D046F3}" destId="{F3A8856A-28A6-4972-BBFE-AC3F58A67ACC}" srcOrd="1" destOrd="0" parTransId="{43622E4D-A915-4005-87EE-4D2A6EECACBB}" sibTransId="{9217F75B-7177-45C4-A4D9-2CCD91455C4F}"/>
    <dgm:cxn modelId="{4E6693C2-6E0B-4C13-93F3-6CEBB927B552}" srcId="{0C11E558-4FA1-45FB-BBCD-7B0FC0D046F3}" destId="{629FFDAB-1B4A-4BA9-9879-5E772460A776}" srcOrd="0" destOrd="0" parTransId="{A19BEE2E-92B8-4573-AA1E-20442047F7FC}" sibTransId="{78BEDC86-2B50-4558-B6B5-ED89BAD95AA5}"/>
    <dgm:cxn modelId="{522BAFC5-0FDE-4D85-92C3-EDA602DF749E}" type="presOf" srcId="{629FFDAB-1B4A-4BA9-9879-5E772460A776}" destId="{1CFFE029-E403-4FD8-9A28-CA030CCAD0F0}" srcOrd="0" destOrd="0" presId="urn:microsoft.com/office/officeart/2005/8/layout/vList2"/>
    <dgm:cxn modelId="{A4B20BE8-CE15-47AB-B123-245DE19B1CFB}" type="presParOf" srcId="{06B23927-BBE3-460E-95F7-38D8F6B54C7E}" destId="{1CFFE029-E403-4FD8-9A28-CA030CCAD0F0}" srcOrd="0" destOrd="0" presId="urn:microsoft.com/office/officeart/2005/8/layout/vList2"/>
    <dgm:cxn modelId="{34598FA7-7E98-432D-83D0-D7E4EBF878C2}" type="presParOf" srcId="{06B23927-BBE3-460E-95F7-38D8F6B54C7E}" destId="{F9949D4A-3F3B-4658-B278-B588DE6860D4}" srcOrd="1" destOrd="0" presId="urn:microsoft.com/office/officeart/2005/8/layout/vList2"/>
    <dgm:cxn modelId="{90C65C66-F1BF-46B2-8A7C-2CE6FBCC70A8}" type="presParOf" srcId="{06B23927-BBE3-460E-95F7-38D8F6B54C7E}" destId="{3250D139-813F-4EFE-8B1A-314CDA5D075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AB0F5D-0815-4C25-B0BF-8D366A80319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9639EE-A595-4E79-9FA1-F337A95F6187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b="1" dirty="0"/>
            <a:t>Store performance is relatively balanced.</a:t>
          </a:r>
          <a:endParaRPr lang="en-IN" sz="1600" b="1" dirty="0"/>
        </a:p>
      </dgm:t>
    </dgm:pt>
    <dgm:pt modelId="{47C1384D-B8FB-46C5-84B3-7F33E221D1B3}" type="parTrans" cxnId="{6C48FA55-8563-49E5-8E90-212FD1DA71CF}">
      <dgm:prSet/>
      <dgm:spPr/>
      <dgm:t>
        <a:bodyPr/>
        <a:lstStyle/>
        <a:p>
          <a:pPr algn="ctr"/>
          <a:endParaRPr lang="en-IN"/>
        </a:p>
      </dgm:t>
    </dgm:pt>
    <dgm:pt modelId="{E28E6091-C703-4BCD-B470-EE2DB5862B7A}" type="sibTrans" cxnId="{6C48FA55-8563-49E5-8E90-212FD1DA71CF}">
      <dgm:prSet/>
      <dgm:spPr/>
      <dgm:t>
        <a:bodyPr/>
        <a:lstStyle/>
        <a:p>
          <a:pPr algn="ctr"/>
          <a:endParaRPr lang="en-IN"/>
        </a:p>
      </dgm:t>
    </dgm:pt>
    <dgm:pt modelId="{146A31C3-BEFA-4BB1-865C-59BFB1213706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b="1" dirty="0"/>
            <a:t>Staff contribution varies based on rentals handled..</a:t>
          </a:r>
          <a:endParaRPr lang="en-IN" sz="1600" b="1" dirty="0"/>
        </a:p>
      </dgm:t>
    </dgm:pt>
    <dgm:pt modelId="{765E3B00-30D0-485A-9014-265FDA8E0B7D}" type="parTrans" cxnId="{7083369E-ACB5-4C0F-A0D3-BC7E799D9D03}">
      <dgm:prSet/>
      <dgm:spPr/>
      <dgm:t>
        <a:bodyPr/>
        <a:lstStyle/>
        <a:p>
          <a:pPr algn="ctr"/>
          <a:endParaRPr lang="en-IN"/>
        </a:p>
      </dgm:t>
    </dgm:pt>
    <dgm:pt modelId="{15FBE34D-9EE2-4C0E-9EF0-E85233F73CFB}" type="sibTrans" cxnId="{7083369E-ACB5-4C0F-A0D3-BC7E799D9D03}">
      <dgm:prSet/>
      <dgm:spPr/>
      <dgm:t>
        <a:bodyPr/>
        <a:lstStyle/>
        <a:p>
          <a:pPr algn="ctr"/>
          <a:endParaRPr lang="en-IN"/>
        </a:p>
      </dgm:t>
    </dgm:pt>
    <dgm:pt modelId="{585BA473-3428-42B8-8A87-B4B9FB53FD5D}" type="pres">
      <dgm:prSet presAssocID="{8BAB0F5D-0815-4C25-B0BF-8D366A80319B}" presName="linear" presStyleCnt="0">
        <dgm:presLayoutVars>
          <dgm:animLvl val="lvl"/>
          <dgm:resizeHandles val="exact"/>
        </dgm:presLayoutVars>
      </dgm:prSet>
      <dgm:spPr/>
    </dgm:pt>
    <dgm:pt modelId="{8FF66D38-FF91-4BAE-B528-0474B6D817D9}" type="pres">
      <dgm:prSet presAssocID="{8D9639EE-A595-4E79-9FA1-F337A95F61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EE52775-0158-423D-8F22-AF66812284EB}" type="pres">
      <dgm:prSet presAssocID="{E28E6091-C703-4BCD-B470-EE2DB5862B7A}" presName="spacer" presStyleCnt="0"/>
      <dgm:spPr/>
    </dgm:pt>
    <dgm:pt modelId="{99D947A1-5821-408A-806F-753BDEB51BF3}" type="pres">
      <dgm:prSet presAssocID="{146A31C3-BEFA-4BB1-865C-59BFB121370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42A5405-3ED2-41AC-A287-619D3A10BA82}" type="presOf" srcId="{8BAB0F5D-0815-4C25-B0BF-8D366A80319B}" destId="{585BA473-3428-42B8-8A87-B4B9FB53FD5D}" srcOrd="0" destOrd="0" presId="urn:microsoft.com/office/officeart/2005/8/layout/vList2"/>
    <dgm:cxn modelId="{282EBA61-3B9B-4D85-8B2B-467407D22E84}" type="presOf" srcId="{146A31C3-BEFA-4BB1-865C-59BFB1213706}" destId="{99D947A1-5821-408A-806F-753BDEB51BF3}" srcOrd="0" destOrd="0" presId="urn:microsoft.com/office/officeart/2005/8/layout/vList2"/>
    <dgm:cxn modelId="{6C48FA55-8563-49E5-8E90-212FD1DA71CF}" srcId="{8BAB0F5D-0815-4C25-B0BF-8D366A80319B}" destId="{8D9639EE-A595-4E79-9FA1-F337A95F6187}" srcOrd="0" destOrd="0" parTransId="{47C1384D-B8FB-46C5-84B3-7F33E221D1B3}" sibTransId="{E28E6091-C703-4BCD-B470-EE2DB5862B7A}"/>
    <dgm:cxn modelId="{7083369E-ACB5-4C0F-A0D3-BC7E799D9D03}" srcId="{8BAB0F5D-0815-4C25-B0BF-8D366A80319B}" destId="{146A31C3-BEFA-4BB1-865C-59BFB1213706}" srcOrd="1" destOrd="0" parTransId="{765E3B00-30D0-485A-9014-265FDA8E0B7D}" sibTransId="{15FBE34D-9EE2-4C0E-9EF0-E85233F73CFB}"/>
    <dgm:cxn modelId="{2D999BE2-4A75-4AD9-BD8C-0C23260C8DA4}" type="presOf" srcId="{8D9639EE-A595-4E79-9FA1-F337A95F6187}" destId="{8FF66D38-FF91-4BAE-B528-0474B6D817D9}" srcOrd="0" destOrd="0" presId="urn:microsoft.com/office/officeart/2005/8/layout/vList2"/>
    <dgm:cxn modelId="{8B29A62A-F852-4389-847C-7AD1E1353289}" type="presParOf" srcId="{585BA473-3428-42B8-8A87-B4B9FB53FD5D}" destId="{8FF66D38-FF91-4BAE-B528-0474B6D817D9}" srcOrd="0" destOrd="0" presId="urn:microsoft.com/office/officeart/2005/8/layout/vList2"/>
    <dgm:cxn modelId="{0B05BC4C-BECC-4A7E-AFB9-A2230FE2E0D5}" type="presParOf" srcId="{585BA473-3428-42B8-8A87-B4B9FB53FD5D}" destId="{1EE52775-0158-423D-8F22-AF66812284EB}" srcOrd="1" destOrd="0" presId="urn:microsoft.com/office/officeart/2005/8/layout/vList2"/>
    <dgm:cxn modelId="{CCA2A2C8-F091-4685-856B-015F2143ABF2}" type="presParOf" srcId="{585BA473-3428-42B8-8A87-B4B9FB53FD5D}" destId="{99D947A1-5821-408A-806F-753BDEB51BF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033903-B6B9-415D-B9DC-EBF6685E8D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912B9E-9287-413D-B797-E4753F0B7B36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dirty="0"/>
            <a:t>Gives a high-level view of overall business performance</a:t>
          </a:r>
          <a:endParaRPr lang="en-IN" sz="1600" dirty="0"/>
        </a:p>
      </dgm:t>
    </dgm:pt>
    <dgm:pt modelId="{44BA614F-177C-449F-82A9-BBD2806C5859}" type="parTrans" cxnId="{DC1FC7AB-0185-45EF-B4AB-9C3D36957F37}">
      <dgm:prSet/>
      <dgm:spPr/>
      <dgm:t>
        <a:bodyPr/>
        <a:lstStyle/>
        <a:p>
          <a:endParaRPr lang="en-IN"/>
        </a:p>
      </dgm:t>
    </dgm:pt>
    <dgm:pt modelId="{B0533820-9BAB-4717-AB0E-D85CCDD3D6BA}" type="sibTrans" cxnId="{DC1FC7AB-0185-45EF-B4AB-9C3D36957F37}">
      <dgm:prSet/>
      <dgm:spPr/>
      <dgm:t>
        <a:bodyPr/>
        <a:lstStyle/>
        <a:p>
          <a:endParaRPr lang="en-IN"/>
        </a:p>
      </dgm:t>
    </dgm:pt>
    <dgm:pt modelId="{B23F2040-4DAB-42DA-935A-5C7DC07924D1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dirty="0"/>
            <a:t>Allows easy navigation to detailed analysis pages</a:t>
          </a:r>
          <a:endParaRPr lang="en-IN" sz="1600" dirty="0"/>
        </a:p>
      </dgm:t>
    </dgm:pt>
    <dgm:pt modelId="{1EDA49E0-37EA-4DC7-AFB0-6BC117199976}" type="parTrans" cxnId="{ABD3C194-0B35-4A42-A314-BDECA1069AA0}">
      <dgm:prSet/>
      <dgm:spPr/>
      <dgm:t>
        <a:bodyPr/>
        <a:lstStyle/>
        <a:p>
          <a:endParaRPr lang="en-IN"/>
        </a:p>
      </dgm:t>
    </dgm:pt>
    <dgm:pt modelId="{5389673C-6D57-4033-8EBF-6167DCDBABB5}" type="sibTrans" cxnId="{ABD3C194-0B35-4A42-A314-BDECA1069AA0}">
      <dgm:prSet/>
      <dgm:spPr/>
      <dgm:t>
        <a:bodyPr/>
        <a:lstStyle/>
        <a:p>
          <a:endParaRPr lang="en-IN"/>
        </a:p>
      </dgm:t>
    </dgm:pt>
    <dgm:pt modelId="{099B8347-BAFF-4BDD-B543-19E184D0498C}" type="pres">
      <dgm:prSet presAssocID="{17033903-B6B9-415D-B9DC-EBF6685E8DDD}" presName="linear" presStyleCnt="0">
        <dgm:presLayoutVars>
          <dgm:animLvl val="lvl"/>
          <dgm:resizeHandles val="exact"/>
        </dgm:presLayoutVars>
      </dgm:prSet>
      <dgm:spPr/>
    </dgm:pt>
    <dgm:pt modelId="{635C93F3-A0C4-4DC4-BA83-39C1EFF5CF9D}" type="pres">
      <dgm:prSet presAssocID="{25912B9E-9287-413D-B797-E4753F0B7B36}" presName="parentText" presStyleLbl="node1" presStyleIdx="0" presStyleCnt="2" custLinFactNeighborX="17463" custLinFactNeighborY="-28636">
        <dgm:presLayoutVars>
          <dgm:chMax val="0"/>
          <dgm:bulletEnabled val="1"/>
        </dgm:presLayoutVars>
      </dgm:prSet>
      <dgm:spPr/>
    </dgm:pt>
    <dgm:pt modelId="{BD94AB70-D4D0-43EF-8864-2CFF4A506FC6}" type="pres">
      <dgm:prSet presAssocID="{B0533820-9BAB-4717-AB0E-D85CCDD3D6BA}" presName="spacer" presStyleCnt="0"/>
      <dgm:spPr/>
    </dgm:pt>
    <dgm:pt modelId="{BFB7A3C8-C5DF-40FC-A09B-77908A60E666}" type="pres">
      <dgm:prSet presAssocID="{B23F2040-4DAB-42DA-935A-5C7DC07924D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3651524-8379-4E49-A55A-554EBC6A9062}" type="presOf" srcId="{25912B9E-9287-413D-B797-E4753F0B7B36}" destId="{635C93F3-A0C4-4DC4-BA83-39C1EFF5CF9D}" srcOrd="0" destOrd="0" presId="urn:microsoft.com/office/officeart/2005/8/layout/vList2"/>
    <dgm:cxn modelId="{D060AC3A-F623-46E1-AF7D-8667A273B682}" type="presOf" srcId="{B23F2040-4DAB-42DA-935A-5C7DC07924D1}" destId="{BFB7A3C8-C5DF-40FC-A09B-77908A60E666}" srcOrd="0" destOrd="0" presId="urn:microsoft.com/office/officeart/2005/8/layout/vList2"/>
    <dgm:cxn modelId="{2C4B2677-716D-47CF-B3BE-65E0FA81DCC9}" type="presOf" srcId="{17033903-B6B9-415D-B9DC-EBF6685E8DDD}" destId="{099B8347-BAFF-4BDD-B543-19E184D0498C}" srcOrd="0" destOrd="0" presId="urn:microsoft.com/office/officeart/2005/8/layout/vList2"/>
    <dgm:cxn modelId="{ABD3C194-0B35-4A42-A314-BDECA1069AA0}" srcId="{17033903-B6B9-415D-B9DC-EBF6685E8DDD}" destId="{B23F2040-4DAB-42DA-935A-5C7DC07924D1}" srcOrd="1" destOrd="0" parTransId="{1EDA49E0-37EA-4DC7-AFB0-6BC117199976}" sibTransId="{5389673C-6D57-4033-8EBF-6167DCDBABB5}"/>
    <dgm:cxn modelId="{DC1FC7AB-0185-45EF-B4AB-9C3D36957F37}" srcId="{17033903-B6B9-415D-B9DC-EBF6685E8DDD}" destId="{25912B9E-9287-413D-B797-E4753F0B7B36}" srcOrd="0" destOrd="0" parTransId="{44BA614F-177C-449F-82A9-BBD2806C5859}" sibTransId="{B0533820-9BAB-4717-AB0E-D85CCDD3D6BA}"/>
    <dgm:cxn modelId="{4B26A2AA-86E7-490F-8425-693CFC9C45B4}" type="presParOf" srcId="{099B8347-BAFF-4BDD-B543-19E184D0498C}" destId="{635C93F3-A0C4-4DC4-BA83-39C1EFF5CF9D}" srcOrd="0" destOrd="0" presId="urn:microsoft.com/office/officeart/2005/8/layout/vList2"/>
    <dgm:cxn modelId="{C0E1F5A2-CEA3-45B4-9591-49F9D9B30A04}" type="presParOf" srcId="{099B8347-BAFF-4BDD-B543-19E184D0498C}" destId="{BD94AB70-D4D0-43EF-8864-2CFF4A506FC6}" srcOrd="1" destOrd="0" presId="urn:microsoft.com/office/officeart/2005/8/layout/vList2"/>
    <dgm:cxn modelId="{0ED8C0A6-7F77-4F00-8237-8F5D396313C4}" type="presParOf" srcId="{099B8347-BAFF-4BDD-B543-19E184D0498C}" destId="{BFB7A3C8-C5DF-40FC-A09B-77908A60E66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432EF48-7E0E-4E7A-A4A1-25B94255E737}" type="doc">
      <dgm:prSet loTypeId="urn:microsoft.com/office/officeart/2005/8/layout/arrow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26778BD-886F-4B73-A2B5-F814566A6DCA}">
      <dgm:prSet/>
      <dgm:spPr/>
      <dgm:t>
        <a:bodyPr/>
        <a:lstStyle/>
        <a:p>
          <a:r>
            <a:rPr lang="en-US" b="0" i="0" baseline="0" dirty="0">
              <a:solidFill>
                <a:schemeClr val="tx1"/>
              </a:solidFill>
            </a:rPr>
            <a:t>Built an end-to-end Power BI dashboard covering sales, customers, inventory, store and staff performance.</a:t>
          </a:r>
          <a:endParaRPr lang="en-IN" dirty="0">
            <a:solidFill>
              <a:schemeClr val="tx1"/>
            </a:solidFill>
          </a:endParaRPr>
        </a:p>
      </dgm:t>
    </dgm:pt>
    <dgm:pt modelId="{394336E3-7AE4-468C-ACB6-49B335974D29}" type="parTrans" cxnId="{FB7607B1-173F-4EBF-B7F3-A98C4ABBB7FB}">
      <dgm:prSet/>
      <dgm:spPr/>
      <dgm:t>
        <a:bodyPr/>
        <a:lstStyle/>
        <a:p>
          <a:endParaRPr lang="en-IN"/>
        </a:p>
      </dgm:t>
    </dgm:pt>
    <dgm:pt modelId="{03196784-EFDF-408A-92D2-A6B2D11FA7DC}" type="sibTrans" cxnId="{FB7607B1-173F-4EBF-B7F3-A98C4ABBB7FB}">
      <dgm:prSet/>
      <dgm:spPr/>
      <dgm:t>
        <a:bodyPr/>
        <a:lstStyle/>
        <a:p>
          <a:endParaRPr lang="en-IN"/>
        </a:p>
      </dgm:t>
    </dgm:pt>
    <dgm:pt modelId="{48BD92E1-71CC-4293-87B3-FBBEBBD5E22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Converted raw data into clear insights to support business decisions</a:t>
          </a:r>
          <a:endParaRPr lang="en-IN" dirty="0">
            <a:solidFill>
              <a:schemeClr val="tx1"/>
            </a:solidFill>
          </a:endParaRPr>
        </a:p>
      </dgm:t>
    </dgm:pt>
    <dgm:pt modelId="{F40321A9-A129-41C4-9732-6B30F606B8EA}" type="parTrans" cxnId="{D4926306-9324-41C7-AAFD-AC28968D8183}">
      <dgm:prSet/>
      <dgm:spPr/>
      <dgm:t>
        <a:bodyPr/>
        <a:lstStyle/>
        <a:p>
          <a:endParaRPr lang="en-IN"/>
        </a:p>
      </dgm:t>
    </dgm:pt>
    <dgm:pt modelId="{D17AE0F7-0EDE-4BE9-B0BA-0ABE036F6005}" type="sibTrans" cxnId="{D4926306-9324-41C7-AAFD-AC28968D8183}">
      <dgm:prSet/>
      <dgm:spPr/>
      <dgm:t>
        <a:bodyPr/>
        <a:lstStyle/>
        <a:p>
          <a:endParaRPr lang="en-IN"/>
        </a:p>
      </dgm:t>
    </dgm:pt>
    <dgm:pt modelId="{CB2C2A9C-2B78-483C-854E-85F8F12B6AB1}" type="pres">
      <dgm:prSet presAssocID="{5432EF48-7E0E-4E7A-A4A1-25B94255E737}" presName="compositeShape" presStyleCnt="0">
        <dgm:presLayoutVars>
          <dgm:chMax val="2"/>
          <dgm:dir/>
          <dgm:resizeHandles val="exact"/>
        </dgm:presLayoutVars>
      </dgm:prSet>
      <dgm:spPr/>
    </dgm:pt>
    <dgm:pt modelId="{7485B2AC-1A3B-4EDB-8309-238DA18155F4}" type="pres">
      <dgm:prSet presAssocID="{5432EF48-7E0E-4E7A-A4A1-25B94255E737}" presName="ribbon" presStyleLbl="node1" presStyleIdx="0" presStyleCn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</dgm:pt>
    <dgm:pt modelId="{8325576D-2B54-427B-B502-E39BE06EDC7E}" type="pres">
      <dgm:prSet presAssocID="{5432EF48-7E0E-4E7A-A4A1-25B94255E737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7509AE9F-4703-4AA0-87BC-EF67AB79A206}" type="pres">
      <dgm:prSet presAssocID="{5432EF48-7E0E-4E7A-A4A1-25B94255E737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4926306-9324-41C7-AAFD-AC28968D8183}" srcId="{5432EF48-7E0E-4E7A-A4A1-25B94255E737}" destId="{48BD92E1-71CC-4293-87B3-FBBEBBD5E224}" srcOrd="1" destOrd="0" parTransId="{F40321A9-A129-41C4-9732-6B30F606B8EA}" sibTransId="{D17AE0F7-0EDE-4BE9-B0BA-0ABE036F6005}"/>
    <dgm:cxn modelId="{B506E997-0A54-4235-AF8A-CE42E5A2178B}" type="presOf" srcId="{48BD92E1-71CC-4293-87B3-FBBEBBD5E224}" destId="{7509AE9F-4703-4AA0-87BC-EF67AB79A206}" srcOrd="0" destOrd="0" presId="urn:microsoft.com/office/officeart/2005/8/layout/arrow6"/>
    <dgm:cxn modelId="{FB7607B1-173F-4EBF-B7F3-A98C4ABBB7FB}" srcId="{5432EF48-7E0E-4E7A-A4A1-25B94255E737}" destId="{B26778BD-886F-4B73-A2B5-F814566A6DCA}" srcOrd="0" destOrd="0" parTransId="{394336E3-7AE4-468C-ACB6-49B335974D29}" sibTransId="{03196784-EFDF-408A-92D2-A6B2D11FA7DC}"/>
    <dgm:cxn modelId="{E338B4BD-3A15-4996-ADFD-D493263A9E93}" type="presOf" srcId="{B26778BD-886F-4B73-A2B5-F814566A6DCA}" destId="{8325576D-2B54-427B-B502-E39BE06EDC7E}" srcOrd="0" destOrd="0" presId="urn:microsoft.com/office/officeart/2005/8/layout/arrow6"/>
    <dgm:cxn modelId="{D0C72FFB-7D2E-49A5-8393-8D00D41E9619}" type="presOf" srcId="{5432EF48-7E0E-4E7A-A4A1-25B94255E737}" destId="{CB2C2A9C-2B78-483C-854E-85F8F12B6AB1}" srcOrd="0" destOrd="0" presId="urn:microsoft.com/office/officeart/2005/8/layout/arrow6"/>
    <dgm:cxn modelId="{5F6462A8-E355-42BA-91C3-408F4088B0A9}" type="presParOf" srcId="{CB2C2A9C-2B78-483C-854E-85F8F12B6AB1}" destId="{7485B2AC-1A3B-4EDB-8309-238DA18155F4}" srcOrd="0" destOrd="0" presId="urn:microsoft.com/office/officeart/2005/8/layout/arrow6"/>
    <dgm:cxn modelId="{739D2578-C412-4CA6-B567-5F4D394A9034}" type="presParOf" srcId="{CB2C2A9C-2B78-483C-854E-85F8F12B6AB1}" destId="{8325576D-2B54-427B-B502-E39BE06EDC7E}" srcOrd="1" destOrd="0" presId="urn:microsoft.com/office/officeart/2005/8/layout/arrow6"/>
    <dgm:cxn modelId="{01365C09-D61F-4450-B635-2261CC331560}" type="presParOf" srcId="{CB2C2A9C-2B78-483C-854E-85F8F12B6AB1}" destId="{7509AE9F-4703-4AA0-87BC-EF67AB79A206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F3A71-D9FB-4913-B652-B51E812CB01F}">
      <dsp:nvSpPr>
        <dsp:cNvPr id="0" name=""/>
        <dsp:cNvSpPr/>
      </dsp:nvSpPr>
      <dsp:spPr>
        <a:xfrm>
          <a:off x="0" y="6551"/>
          <a:ext cx="8214853" cy="71136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These KPIs provide a quick overview of business performance and help track overall growth and efficiency.</a:t>
          </a:r>
          <a:endParaRPr lang="en-IN" sz="1600" b="1" kern="1200" dirty="0">
            <a:solidFill>
              <a:prstClr val="black"/>
            </a:solidFill>
            <a:latin typeface="Calibri"/>
            <a:ea typeface="+mn-ea"/>
            <a:cs typeface="+mn-cs"/>
          </a:endParaRPr>
        </a:p>
      </dsp:txBody>
      <dsp:txXfrm>
        <a:off x="34726" y="41277"/>
        <a:ext cx="8145401" cy="6419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18BEA-5D01-4FD9-9D0C-62E5011F2B37}">
      <dsp:nvSpPr>
        <dsp:cNvPr id="0" name=""/>
        <dsp:cNvSpPr/>
      </dsp:nvSpPr>
      <dsp:spPr>
        <a:xfrm>
          <a:off x="0" y="18144"/>
          <a:ext cx="8326012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Revenue</a:t>
          </a:r>
          <a:r>
            <a:rPr lang="en-US" sz="1600" kern="1200" dirty="0"/>
            <a:t> </a:t>
          </a:r>
          <a:r>
            <a:rPr lang="en-US" sz="1600" b="1" kern="1200" dirty="0"/>
            <a:t>varies</a:t>
          </a:r>
          <a:r>
            <a:rPr lang="en-US" sz="1600" kern="1200" dirty="0"/>
            <a:t> across months indicating demand patterns.</a:t>
          </a:r>
          <a:endParaRPr lang="en-IN" sz="1600" kern="1200" dirty="0"/>
        </a:p>
      </dsp:txBody>
      <dsp:txXfrm>
        <a:off x="20104" y="38248"/>
        <a:ext cx="8285804" cy="371632"/>
      </dsp:txXfrm>
    </dsp:sp>
    <dsp:sp modelId="{9BE90E48-677F-466F-A0C1-82620612BC07}">
      <dsp:nvSpPr>
        <dsp:cNvPr id="0" name=""/>
        <dsp:cNvSpPr/>
      </dsp:nvSpPr>
      <dsp:spPr>
        <a:xfrm>
          <a:off x="0" y="493345"/>
          <a:ext cx="8326012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 few films generate higher revenue than others.</a:t>
          </a:r>
          <a:endParaRPr lang="en-IN" sz="1600" b="1" kern="1200" dirty="0"/>
        </a:p>
      </dsp:txBody>
      <dsp:txXfrm>
        <a:off x="20104" y="513449"/>
        <a:ext cx="8285804" cy="3716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90B03-68F2-4B4D-9FCE-6CE5C4A92A11}">
      <dsp:nvSpPr>
        <dsp:cNvPr id="0" name=""/>
        <dsp:cNvSpPr/>
      </dsp:nvSpPr>
      <dsp:spPr>
        <a:xfrm>
          <a:off x="0" y="8020"/>
          <a:ext cx="7590505" cy="631799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Customers are segmented based on rental frequency and revenue</a:t>
          </a:r>
          <a:endParaRPr lang="en-IN" sz="1600" b="1" kern="1200" dirty="0"/>
        </a:p>
      </dsp:txBody>
      <dsp:txXfrm>
        <a:off x="30842" y="38862"/>
        <a:ext cx="7528821" cy="570115"/>
      </dsp:txXfrm>
    </dsp:sp>
    <dsp:sp modelId="{F855976F-6CC0-42B1-B676-D6DD9293001B}">
      <dsp:nvSpPr>
        <dsp:cNvPr id="0" name=""/>
        <dsp:cNvSpPr/>
      </dsp:nvSpPr>
      <dsp:spPr>
        <a:xfrm>
          <a:off x="0" y="708940"/>
          <a:ext cx="7590505" cy="631863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 small group of customers generates higher revenue and rentals, indicating strong customer segmentation.</a:t>
          </a:r>
          <a:endParaRPr lang="en-IN" sz="1600" b="1" kern="1200" dirty="0"/>
        </a:p>
      </dsp:txBody>
      <dsp:txXfrm>
        <a:off x="30845" y="739785"/>
        <a:ext cx="7528815" cy="5701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FE029-E403-4FD8-9A28-CA030CCAD0F0}">
      <dsp:nvSpPr>
        <dsp:cNvPr id="0" name=""/>
        <dsp:cNvSpPr/>
      </dsp:nvSpPr>
      <dsp:spPr>
        <a:xfrm>
          <a:off x="0" y="6254"/>
          <a:ext cx="5149645" cy="63648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Films are evenly distributed across categories.</a:t>
          </a:r>
          <a:endParaRPr lang="en-IN" sz="1600" b="1" kern="1200" dirty="0"/>
        </a:p>
      </dsp:txBody>
      <dsp:txXfrm>
        <a:off x="31070" y="37324"/>
        <a:ext cx="5087505" cy="574340"/>
      </dsp:txXfrm>
    </dsp:sp>
    <dsp:sp modelId="{3250D139-813F-4EFE-8B1A-314CDA5D075E}">
      <dsp:nvSpPr>
        <dsp:cNvPr id="0" name=""/>
        <dsp:cNvSpPr/>
      </dsp:nvSpPr>
      <dsp:spPr>
        <a:xfrm>
          <a:off x="0" y="746909"/>
          <a:ext cx="5149645" cy="63648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Most rentals fall within a standard duration range.</a:t>
          </a:r>
          <a:r>
            <a:rPr lang="en-US" sz="1600" b="1" i="0" kern="1200" baseline="0" dirty="0"/>
            <a:t>.</a:t>
          </a:r>
          <a:endParaRPr lang="en-IN" sz="1600" b="1" kern="1200" dirty="0"/>
        </a:p>
      </dsp:txBody>
      <dsp:txXfrm>
        <a:off x="31070" y="777979"/>
        <a:ext cx="5087505" cy="5743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66D38-FF91-4BAE-B528-0474B6D817D9}">
      <dsp:nvSpPr>
        <dsp:cNvPr id="0" name=""/>
        <dsp:cNvSpPr/>
      </dsp:nvSpPr>
      <dsp:spPr>
        <a:xfrm>
          <a:off x="0" y="15524"/>
          <a:ext cx="5265174" cy="54288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Store performance is relatively balanced.</a:t>
          </a:r>
          <a:endParaRPr lang="en-IN" sz="1600" b="1" kern="1200" dirty="0"/>
        </a:p>
      </dsp:txBody>
      <dsp:txXfrm>
        <a:off x="26501" y="42025"/>
        <a:ext cx="5212172" cy="489878"/>
      </dsp:txXfrm>
    </dsp:sp>
    <dsp:sp modelId="{99D947A1-5821-408A-806F-753BDEB51BF3}">
      <dsp:nvSpPr>
        <dsp:cNvPr id="0" name=""/>
        <dsp:cNvSpPr/>
      </dsp:nvSpPr>
      <dsp:spPr>
        <a:xfrm>
          <a:off x="0" y="641924"/>
          <a:ext cx="5265174" cy="54288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Staff contribution varies based on rentals handled..</a:t>
          </a:r>
          <a:endParaRPr lang="en-IN" sz="1600" b="1" kern="1200" dirty="0"/>
        </a:p>
      </dsp:txBody>
      <dsp:txXfrm>
        <a:off x="26501" y="668425"/>
        <a:ext cx="5212172" cy="4898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C93F3-A0C4-4DC4-BA83-39C1EFF5CF9D}">
      <dsp:nvSpPr>
        <dsp:cNvPr id="0" name=""/>
        <dsp:cNvSpPr/>
      </dsp:nvSpPr>
      <dsp:spPr>
        <a:xfrm>
          <a:off x="0" y="1"/>
          <a:ext cx="5348747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Gives a high-level view of overall business performance</a:t>
          </a:r>
          <a:endParaRPr lang="en-IN" sz="1600" kern="1200" dirty="0"/>
        </a:p>
      </dsp:txBody>
      <dsp:txXfrm>
        <a:off x="20104" y="20105"/>
        <a:ext cx="5308539" cy="371632"/>
      </dsp:txXfrm>
    </dsp:sp>
    <dsp:sp modelId="{BFB7A3C8-C5DF-40FC-A09B-77908A60E666}">
      <dsp:nvSpPr>
        <dsp:cNvPr id="0" name=""/>
        <dsp:cNvSpPr/>
      </dsp:nvSpPr>
      <dsp:spPr>
        <a:xfrm>
          <a:off x="0" y="493345"/>
          <a:ext cx="5348747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Allows easy navigation to detailed analysis pages</a:t>
          </a:r>
          <a:endParaRPr lang="en-IN" sz="1600" kern="1200" dirty="0"/>
        </a:p>
      </dsp:txBody>
      <dsp:txXfrm>
        <a:off x="20104" y="513449"/>
        <a:ext cx="5308539" cy="3716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5B2AC-1A3B-4EDB-8309-238DA18155F4}">
      <dsp:nvSpPr>
        <dsp:cNvPr id="0" name=""/>
        <dsp:cNvSpPr/>
      </dsp:nvSpPr>
      <dsp:spPr>
        <a:xfrm>
          <a:off x="0" y="277367"/>
          <a:ext cx="7376160" cy="2950464"/>
        </a:xfrm>
        <a:prstGeom prst="leftRightRibbon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</dsp:sp>
    <dsp:sp modelId="{8325576D-2B54-427B-B502-E39BE06EDC7E}">
      <dsp:nvSpPr>
        <dsp:cNvPr id="0" name=""/>
        <dsp:cNvSpPr/>
      </dsp:nvSpPr>
      <dsp:spPr>
        <a:xfrm>
          <a:off x="885139" y="793698"/>
          <a:ext cx="2434132" cy="14457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solidFill>
                <a:schemeClr val="tx1"/>
              </a:solidFill>
            </a:rPr>
            <a:t>Built an end-to-end Power BI dashboard covering sales, customers, inventory, store and staff performance.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885139" y="793698"/>
        <a:ext cx="2434132" cy="1445727"/>
      </dsp:txXfrm>
    </dsp:sp>
    <dsp:sp modelId="{7509AE9F-4703-4AA0-87BC-EF67AB79A206}">
      <dsp:nvSpPr>
        <dsp:cNvPr id="0" name=""/>
        <dsp:cNvSpPr/>
      </dsp:nvSpPr>
      <dsp:spPr>
        <a:xfrm>
          <a:off x="3688080" y="1265772"/>
          <a:ext cx="2876702" cy="14457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Converted raw data into clear insights to support business decisions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3688080" y="1265772"/>
        <a:ext cx="2876702" cy="144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94158-614D-4608-A502-E746671CBA9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92A3D-9B1F-48A2-8C34-D7E40B613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8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05140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DVD Rental Business Analysis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236406"/>
          </a:xfrm>
        </p:spPr>
        <p:txBody>
          <a:bodyPr>
            <a:normAutofit/>
          </a:bodyPr>
          <a:lstStyle/>
          <a:p>
            <a:r>
              <a:rPr lang="en-IN" dirty="0"/>
              <a:t>Priyanka Pawar</a:t>
            </a:r>
          </a:p>
          <a:p>
            <a:r>
              <a:rPr lang="en-IN" dirty="0"/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864520-0E89-60A8-07D6-EE879771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3626"/>
            <a:ext cx="8229600" cy="2282877"/>
          </a:xfrm>
        </p:spPr>
        <p:txBody>
          <a:bodyPr>
            <a:no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 Objective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The goal of this project is to analyze the DVD rental business using the Sakila dataset and create an interactive Power BI dashboard.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33368"/>
            <a:ext cx="8229600" cy="33927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Objectives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• Analyze revenue trends</a:t>
            </a:r>
            <a:br>
              <a:rPr lang="en-US" sz="2800" dirty="0"/>
            </a:br>
            <a:r>
              <a:rPr lang="en-US" sz="2800" dirty="0"/>
              <a:t>	• Understand customer rental behavior</a:t>
            </a:r>
            <a:br>
              <a:rPr lang="en-US" sz="2800" dirty="0"/>
            </a:br>
            <a:r>
              <a:rPr lang="en-US" sz="2800" dirty="0"/>
              <a:t>	• Identify top performing films</a:t>
            </a:r>
            <a:br>
              <a:rPr lang="en-US" sz="2800" dirty="0"/>
            </a:br>
            <a:r>
              <a:rPr lang="en-US" sz="2800" dirty="0"/>
              <a:t>	• Evaluate store and staff performance</a:t>
            </a:r>
            <a:br>
              <a:rPr lang="en-US" sz="2800" dirty="0"/>
            </a:br>
            <a:r>
              <a:rPr lang="en-US" sz="2800" dirty="0"/>
              <a:t>	• 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876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Sakila DVD Rental Database</a:t>
            </a:r>
          </a:p>
          <a:p>
            <a:r>
              <a:rPr lang="en-IN" dirty="0"/>
              <a:t>The dataset represents the operations of a DVD rental business including customers, films, rentals, payments, stores, and staff.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Tables</a:t>
            </a:r>
            <a:endParaRPr lang="en-IN" dirty="0"/>
          </a:p>
          <a:p>
            <a:r>
              <a:rPr lang="en-IN" dirty="0"/>
              <a:t>Customer – customer details</a:t>
            </a:r>
          </a:p>
          <a:p>
            <a:r>
              <a:rPr lang="en-IN" dirty="0"/>
              <a:t>Film – film information</a:t>
            </a:r>
          </a:p>
          <a:p>
            <a:r>
              <a:rPr lang="en-IN" dirty="0"/>
              <a:t>Rental – rental transactions</a:t>
            </a:r>
          </a:p>
          <a:p>
            <a:r>
              <a:rPr lang="en-IN" dirty="0"/>
              <a:t>Payment – payment details</a:t>
            </a:r>
          </a:p>
          <a:p>
            <a:r>
              <a:rPr lang="en-IN" dirty="0"/>
              <a:t>Inventory – film inventory in stores</a:t>
            </a:r>
          </a:p>
          <a:p>
            <a:r>
              <a:rPr lang="en-IN" dirty="0"/>
              <a:t>Store – store information</a:t>
            </a:r>
          </a:p>
          <a:p>
            <a:r>
              <a:rPr lang="en-IN" dirty="0"/>
              <a:t>Staff – employee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781"/>
            <a:ext cx="8229600" cy="722670"/>
          </a:xfrm>
        </p:spPr>
        <p:txBody>
          <a:bodyPr>
            <a:normAutofit/>
          </a:bodyPr>
          <a:lstStyle/>
          <a:p>
            <a:r>
              <a:rPr lang="en-US" sz="4000" b="1" dirty="0"/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9932"/>
            <a:ext cx="8229600" cy="5355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Data Cleaning Steps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• Checked for missing values</a:t>
            </a:r>
            <a:br>
              <a:rPr lang="en-US" sz="2800" dirty="0"/>
            </a:br>
            <a:r>
              <a:rPr lang="en-US" sz="2800" dirty="0"/>
              <a:t>	• Verified primary keys for duplicates</a:t>
            </a:r>
            <a:br>
              <a:rPr lang="en-US" sz="2800" dirty="0"/>
            </a:br>
            <a:r>
              <a:rPr lang="en-US" sz="2800" dirty="0"/>
              <a:t>	• Converted date columns into correct format</a:t>
            </a:r>
            <a:br>
              <a:rPr lang="en-US" sz="2800" dirty="0"/>
            </a:br>
            <a:r>
              <a:rPr lang="en-US" sz="2800" dirty="0"/>
              <a:t>	• Created additional columns for analysis</a:t>
            </a:r>
            <a:br>
              <a:rPr lang="en-US" sz="2800" dirty="0"/>
            </a:br>
            <a:r>
              <a:rPr lang="en-US" sz="2800" dirty="0"/>
              <a:t>	• Validated relationships between tables</a:t>
            </a:r>
          </a:p>
          <a:p>
            <a:pPr marL="0" indent="0">
              <a:buNone/>
            </a:pPr>
            <a:r>
              <a:rPr lang="en-US" sz="2800" b="1" dirty="0"/>
              <a:t>Example</a:t>
            </a:r>
            <a:endParaRPr lang="en-US" sz="2800" dirty="0"/>
          </a:p>
          <a:p>
            <a:pPr marL="457200" lvl="1" indent="0">
              <a:buNone/>
            </a:pPr>
            <a:r>
              <a:rPr lang="en-US" sz="2400" dirty="0"/>
              <a:t>• Created YearMonth column to analyze monthly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67"/>
            <a:ext cx="8229600" cy="722670"/>
          </a:xfrm>
        </p:spPr>
        <p:txBody>
          <a:bodyPr>
            <a:normAutofit fontScale="90000"/>
          </a:bodyPr>
          <a:lstStyle/>
          <a:p>
            <a:r>
              <a:rPr b="1" dirty="0"/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9999"/>
            <a:ext cx="8229600" cy="22090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Key Relationships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• Payment → Rental</a:t>
            </a:r>
          </a:p>
          <a:p>
            <a:pPr marL="0" indent="0">
              <a:buNone/>
            </a:pPr>
            <a:r>
              <a:rPr lang="en-US" sz="2000" dirty="0"/>
              <a:t>	• Rental → Customer</a:t>
            </a:r>
          </a:p>
          <a:p>
            <a:pPr marL="0" indent="0">
              <a:buNone/>
            </a:pPr>
            <a:r>
              <a:rPr lang="en-US" sz="2000" dirty="0"/>
              <a:t>	• Inventory → Film</a:t>
            </a:r>
          </a:p>
          <a:p>
            <a:pPr marL="0" indent="0">
              <a:buNone/>
            </a:pPr>
            <a:r>
              <a:rPr lang="en-US" sz="2000" dirty="0"/>
              <a:t>	• Staff → Store</a:t>
            </a:r>
          </a:p>
          <a:p>
            <a:pPr marL="0" indent="0">
              <a:buNone/>
            </a:pPr>
            <a:r>
              <a:rPr lang="en-US" sz="2000" dirty="0"/>
              <a:t>These relationships allow Power BI to combine data from different tables for accurate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D450A-C053-70DC-E105-2E1B57E156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8441" y="3037168"/>
            <a:ext cx="8451429" cy="3697927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</a:t>
            </a:r>
            <a:r>
              <a:rPr lang="en-US" dirty="0"/>
              <a:t> Business</a:t>
            </a:r>
            <a:r>
              <a:rPr dirty="0"/>
              <a:t> KPIs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9E67E7-9652-B175-4E9B-C41E70895E99}"/>
              </a:ext>
            </a:extLst>
          </p:cNvPr>
          <p:cNvGrpSpPr/>
          <p:nvPr/>
        </p:nvGrpSpPr>
        <p:grpSpPr>
          <a:xfrm>
            <a:off x="1441297" y="1641181"/>
            <a:ext cx="6261406" cy="3124398"/>
            <a:chOff x="1448135" y="1627514"/>
            <a:chExt cx="6261406" cy="312439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D75D13-A8C3-E275-92A7-13A197CC7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448135" y="1641181"/>
              <a:ext cx="2789568" cy="114299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3BD4D67-529C-752A-CE87-1419C09BF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958619" y="1627514"/>
              <a:ext cx="2747140" cy="118019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664FC41-D28A-809D-A992-6D7946F3C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457662" y="3601391"/>
              <a:ext cx="2789568" cy="115052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727528-7DA9-2212-6549-AD1B887FE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925275" y="3616225"/>
              <a:ext cx="2784266" cy="110760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98CEE88-4F28-9BEC-DC3F-28FC119B5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0125359"/>
              </p:ext>
            </p:extLst>
          </p:nvPr>
        </p:nvGraphicFramePr>
        <p:xfrm>
          <a:off x="464573" y="5220558"/>
          <a:ext cx="8214853" cy="724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</a:t>
            </a:r>
            <a:r>
              <a:rPr lang="en-US" dirty="0"/>
              <a:t> Analysis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50C7F9-95DC-87E9-A036-2CF7D06F5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7032" y="1417638"/>
            <a:ext cx="4114800" cy="31346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1C8EAEA-58DC-ECE5-35A4-01BFF85E06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2326925"/>
              </p:ext>
            </p:extLst>
          </p:nvPr>
        </p:nvGraphicFramePr>
        <p:xfrm>
          <a:off x="408994" y="4994785"/>
          <a:ext cx="8326012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A12182A-F1E3-26E8-47AD-34DF213F88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417638"/>
            <a:ext cx="4104968" cy="31346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12C6D-AD7C-81EF-71C7-F5F057E82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79186" y="1417639"/>
            <a:ext cx="5985626" cy="3518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EC9D8CC-83C1-3982-AB71-1F9B743F2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657271"/>
              </p:ext>
            </p:extLst>
          </p:nvPr>
        </p:nvGraphicFramePr>
        <p:xfrm>
          <a:off x="776747" y="5160131"/>
          <a:ext cx="7590505" cy="1348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Film &amp; Inventory Analysis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5A920-0E6D-06DE-39EE-BA58AD26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1506128"/>
            <a:ext cx="4114800" cy="29282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3A5F5043-7F9A-6466-2EBB-BC06F6105D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0565242"/>
              </p:ext>
            </p:extLst>
          </p:nvPr>
        </p:nvGraphicFramePr>
        <p:xfrm>
          <a:off x="1997177" y="4827639"/>
          <a:ext cx="5149645" cy="1383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02E68D0-D5F0-6B53-4B79-D323A14808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506128"/>
            <a:ext cx="4114800" cy="29380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27BA-7DAB-1D0C-E902-904933E7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3303"/>
            <a:ext cx="8229600" cy="1143000"/>
          </a:xfrm>
        </p:spPr>
        <p:txBody>
          <a:bodyPr/>
          <a:lstStyle/>
          <a:p>
            <a:r>
              <a:rPr lang="en-IN" dirty="0"/>
              <a:t>Store &amp; Staff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5455B-E1D1-F39D-B344-429CAF77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1744432"/>
            <a:ext cx="4114800" cy="25447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151327-8644-8571-97BD-536033A4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4264" y="1744433"/>
            <a:ext cx="4062536" cy="25447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258FB40-B633-9A50-3895-94C880C596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9628286"/>
              </p:ext>
            </p:extLst>
          </p:nvPr>
        </p:nvGraphicFramePr>
        <p:xfrm>
          <a:off x="1939413" y="4881449"/>
          <a:ext cx="5265174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1447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  <a:r>
              <a:rPr lang="en-US" dirty="0"/>
              <a:t> </a:t>
            </a:r>
            <a:r>
              <a:rPr lang="en-IN" dirty="0"/>
              <a:t>&amp; Recommendations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D9CB6-A96C-08F7-87D5-4D53F48001F8}"/>
              </a:ext>
            </a:extLst>
          </p:cNvPr>
          <p:cNvSpPr txBox="1"/>
          <p:nvPr/>
        </p:nvSpPr>
        <p:spPr>
          <a:xfrm>
            <a:off x="914400" y="5132438"/>
            <a:ext cx="7674077" cy="3097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C674E6-2B54-2167-0468-EB1C6D38C498}"/>
              </a:ext>
            </a:extLst>
          </p:cNvPr>
          <p:cNvGrpSpPr/>
          <p:nvPr/>
        </p:nvGrpSpPr>
        <p:grpSpPr>
          <a:xfrm>
            <a:off x="457199" y="1666696"/>
            <a:ext cx="8229601" cy="3898362"/>
            <a:chOff x="1491273" y="1666696"/>
            <a:chExt cx="6499068" cy="290398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3CF2F4A-111F-531D-AB50-35245C0C83D2}"/>
                </a:ext>
              </a:extLst>
            </p:cNvPr>
            <p:cNvSpPr/>
            <p:nvPr/>
          </p:nvSpPr>
          <p:spPr>
            <a:xfrm>
              <a:off x="1491273" y="1666696"/>
              <a:ext cx="3432166" cy="2903988"/>
            </a:xfrm>
            <a:custGeom>
              <a:avLst/>
              <a:gdLst>
                <a:gd name="csX0" fmla="*/ 0 w 3432166"/>
                <a:gd name="csY0" fmla="*/ 1451994 h 2903988"/>
                <a:gd name="csX1" fmla="*/ 1716083 w 3432166"/>
                <a:gd name="csY1" fmla="*/ 0 h 2903988"/>
                <a:gd name="csX2" fmla="*/ 3432166 w 3432166"/>
                <a:gd name="csY2" fmla="*/ 1451994 h 2903988"/>
                <a:gd name="csX3" fmla="*/ 1716083 w 3432166"/>
                <a:gd name="csY3" fmla="*/ 2903988 h 2903988"/>
                <a:gd name="csX4" fmla="*/ 0 w 3432166"/>
                <a:gd name="csY4" fmla="*/ 1451994 h 2903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432166" h="2903988">
                  <a:moveTo>
                    <a:pt x="0" y="1451994"/>
                  </a:moveTo>
                  <a:cubicBezTo>
                    <a:pt x="0" y="650080"/>
                    <a:pt x="768317" y="0"/>
                    <a:pt x="1716083" y="0"/>
                  </a:cubicBezTo>
                  <a:cubicBezTo>
                    <a:pt x="2663849" y="0"/>
                    <a:pt x="3432166" y="650080"/>
                    <a:pt x="3432166" y="1451994"/>
                  </a:cubicBezTo>
                  <a:cubicBezTo>
                    <a:pt x="3432166" y="2253908"/>
                    <a:pt x="2663849" y="2903988"/>
                    <a:pt x="1716083" y="2903988"/>
                  </a:cubicBezTo>
                  <a:cubicBezTo>
                    <a:pt x="768317" y="2903988"/>
                    <a:pt x="0" y="2253908"/>
                    <a:pt x="0" y="1451994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662445" tIns="443059" rIns="662445" bIns="44305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b="1" kern="1200" dirty="0"/>
                <a:t>Key Insights</a:t>
              </a:r>
              <a:endParaRPr lang="en-IN" kern="1200" dirty="0"/>
            </a:p>
            <a:p>
              <a:pPr marL="0" lvl="0" indent="0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• Revenue fluctuates across different months</a:t>
              </a:r>
              <a:br>
                <a:rPr lang="en-US" kern="1200" dirty="0"/>
              </a:br>
              <a:r>
                <a:rPr lang="en-US" kern="1200" dirty="0"/>
                <a:t>• A few films contribute a large portion of revenue</a:t>
              </a:r>
              <a:br>
                <a:rPr lang="en-US" kern="1200" dirty="0"/>
              </a:br>
              <a:r>
                <a:rPr lang="en-US" kern="1200" dirty="0"/>
                <a:t>• High-value customers drive business performance</a:t>
              </a:r>
              <a:endParaRPr lang="en-IN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701C006-29A6-3104-4797-421939E5F47B}"/>
                </a:ext>
              </a:extLst>
            </p:cNvPr>
            <p:cNvSpPr/>
            <p:nvPr/>
          </p:nvSpPr>
          <p:spPr>
            <a:xfrm>
              <a:off x="4558175" y="1666696"/>
              <a:ext cx="3432166" cy="2903988"/>
            </a:xfrm>
            <a:custGeom>
              <a:avLst/>
              <a:gdLst>
                <a:gd name="csX0" fmla="*/ 0 w 3647700"/>
                <a:gd name="csY0" fmla="*/ 1451994 h 2903988"/>
                <a:gd name="csX1" fmla="*/ 1823850 w 3647700"/>
                <a:gd name="csY1" fmla="*/ 0 h 2903988"/>
                <a:gd name="csX2" fmla="*/ 3647700 w 3647700"/>
                <a:gd name="csY2" fmla="*/ 1451994 h 2903988"/>
                <a:gd name="csX3" fmla="*/ 1823850 w 3647700"/>
                <a:gd name="csY3" fmla="*/ 2903988 h 2903988"/>
                <a:gd name="csX4" fmla="*/ 0 w 3647700"/>
                <a:gd name="csY4" fmla="*/ 1451994 h 2903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647700" h="2903988">
                  <a:moveTo>
                    <a:pt x="0" y="1451994"/>
                  </a:moveTo>
                  <a:cubicBezTo>
                    <a:pt x="0" y="650080"/>
                    <a:pt x="816565" y="0"/>
                    <a:pt x="1823850" y="0"/>
                  </a:cubicBezTo>
                  <a:cubicBezTo>
                    <a:pt x="2831135" y="0"/>
                    <a:pt x="3647700" y="650080"/>
                    <a:pt x="3647700" y="1451994"/>
                  </a:cubicBezTo>
                  <a:cubicBezTo>
                    <a:pt x="3647700" y="2253908"/>
                    <a:pt x="2831135" y="2903988"/>
                    <a:pt x="1823850" y="2903988"/>
                  </a:cubicBezTo>
                  <a:cubicBezTo>
                    <a:pt x="816565" y="2903988"/>
                    <a:pt x="0" y="2253908"/>
                    <a:pt x="0" y="1451994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694009" tIns="443059" rIns="694009" bIns="44305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b="1" kern="1200" dirty="0"/>
                <a:t>Recommendations</a:t>
              </a:r>
              <a:endParaRPr lang="en-IN" kern="1200" dirty="0"/>
            </a:p>
            <a:p>
              <a:pPr marL="0" lvl="0" indent="0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• Increase inventory for high-deman</a:t>
              </a:r>
              <a:r>
                <a:rPr lang="en-US" dirty="0"/>
                <a:t>d </a:t>
              </a:r>
              <a:r>
                <a:rPr lang="en-US" kern="1200" dirty="0"/>
                <a:t>films</a:t>
              </a:r>
              <a:br>
                <a:rPr lang="en-US" kern="1200" dirty="0"/>
              </a:br>
              <a:r>
                <a:rPr lang="en-US" kern="1200" dirty="0"/>
                <a:t>• Focus on retaining high-value customers</a:t>
              </a:r>
              <a:br>
                <a:rPr lang="en-US" kern="1200" dirty="0"/>
              </a:br>
              <a:r>
                <a:rPr lang="en-US" kern="1200" dirty="0"/>
                <a:t>• Monitor and improve staff performance</a:t>
              </a:r>
              <a:endParaRPr lang="en-IN" kern="12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D8340-D720-EBCD-0570-101B2B6BD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0645" y="1323478"/>
            <a:ext cx="7342710" cy="4133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300F6DC-1C88-31A9-B1BA-72F35B936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7233920"/>
              </p:ext>
            </p:extLst>
          </p:nvPr>
        </p:nvGraphicFramePr>
        <p:xfrm>
          <a:off x="1897626" y="5748522"/>
          <a:ext cx="5348747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65D348-48F9-9C1F-556D-C4EB4C6AF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555775"/>
              </p:ext>
            </p:extLst>
          </p:nvPr>
        </p:nvGraphicFramePr>
        <p:xfrm>
          <a:off x="1203960" y="1676400"/>
          <a:ext cx="7376160" cy="3505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430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 DVD Rental Business Analysis </vt:lpstr>
      <vt:lpstr>Project Objective  The goal of this project is to analyze the DVD rental business using the Sakila dataset and create an interactive Power BI dashboard.</vt:lpstr>
      <vt:lpstr>Dataset Overview</vt:lpstr>
      <vt:lpstr>Data Cleaning &amp; Preparation</vt:lpstr>
      <vt:lpstr>Data Model</vt:lpstr>
      <vt:lpstr>Key Business KPIs</vt:lpstr>
      <vt:lpstr>Sales Analysis</vt:lpstr>
      <vt:lpstr>Customer Analysis</vt:lpstr>
      <vt:lpstr>Film &amp; Inventory Analysis</vt:lpstr>
      <vt:lpstr>Store &amp; Staff Performance</vt:lpstr>
      <vt:lpstr>Key Insights &amp; Recommendations</vt:lpstr>
      <vt:lpstr>Power BI Dashboard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 Pawar</dc:creator>
  <cp:keywords/>
  <dc:description>generated using python-pptx</dc:description>
  <cp:lastModifiedBy>Manoj Pawar</cp:lastModifiedBy>
  <cp:revision>19</cp:revision>
  <dcterms:created xsi:type="dcterms:W3CDTF">2013-01-27T09:14:16Z</dcterms:created>
  <dcterms:modified xsi:type="dcterms:W3CDTF">2026-04-27T16:11:17Z</dcterms:modified>
  <cp:category/>
</cp:coreProperties>
</file>